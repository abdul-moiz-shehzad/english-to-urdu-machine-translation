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C47DB1-F735-4F00-88AD-CD8447986686}">
  <a:tblStyle styleId="{5BC47DB1-F735-4F00-88AD-CD84479866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E717F3F-F03E-4F91-AC81-98A406671D7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5a72eba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5a72eba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5a72ebab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5a72ebab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5a72ebab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5a72ebab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5a72ebab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5a72ebab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5a72ebab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5a72ebab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5a72ebab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5a72ebab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5a72ebab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5a72ebab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5a72ebab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5a72ebab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5a72ebab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5a72ebab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5a72ebab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5a72ebab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5a72ebab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5a72ebab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5a72ebab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5a72ebab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5a72ebab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5a72ebab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5a72ebab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5a72ebab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5a72ebab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5a72ebab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5a72ebab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5a72ebab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5a72ebab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5a72ebab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rxiv.org/abs/2008.00401" TargetMode="External"/><Relationship Id="rId4" Type="http://schemas.openxmlformats.org/officeDocument/2006/relationships/hyperlink" Target="https://arxiv.org/abs/2008.00401" TargetMode="External"/><Relationship Id="rId9" Type="http://schemas.openxmlformats.org/officeDocument/2006/relationships/hyperlink" Target="https://github.com/google/sentencepiece" TargetMode="External"/><Relationship Id="rId5" Type="http://schemas.openxmlformats.org/officeDocument/2006/relationships/hyperlink" Target="https://arxiv.org/abs/1910.13461" TargetMode="External"/><Relationship Id="rId6" Type="http://schemas.openxmlformats.org/officeDocument/2006/relationships/hyperlink" Target="https://arxiv.org/abs/1910.13461" TargetMode="External"/><Relationship Id="rId7" Type="http://schemas.openxmlformats.org/officeDocument/2006/relationships/hyperlink" Target="https://arxiv.org/abs/1910.13461" TargetMode="External"/><Relationship Id="rId8" Type="http://schemas.openxmlformats.org/officeDocument/2006/relationships/hyperlink" Target="https://github.com/google/sentencepie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226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To Urdu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Translation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22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Abdul Moiz SHEHZAD (22L-7468)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Abdullah Riaz (22L-7489)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Introduction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Model Name:</a:t>
            </a:r>
            <a:r>
              <a:rPr lang="en" sz="1700">
                <a:solidFill>
                  <a:schemeClr val="dk1"/>
                </a:solidFill>
              </a:rPr>
              <a:t> mBART50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Model Type:</a:t>
            </a:r>
            <a:r>
              <a:rPr lang="en" sz="1700">
                <a:solidFill>
                  <a:schemeClr val="dk1"/>
                </a:solidFill>
              </a:rPr>
              <a:t> Sequence-to-sequence transformer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Why mBART50?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Pretrained on 50 languages (including Urdu)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Handles translation both to and from multiple languages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Outperformed other models (like BERT-based setups) in our tests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BART – Foundation of mBART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BART:</a:t>
            </a:r>
            <a:r>
              <a:rPr lang="en" sz="1700">
                <a:solidFill>
                  <a:schemeClr val="dk1"/>
                </a:solidFill>
              </a:rPr>
              <a:t> Bidirectional and Auto-Regressive Transformers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Architecture Type:</a:t>
            </a:r>
            <a:r>
              <a:rPr lang="en" sz="1700">
                <a:solidFill>
                  <a:schemeClr val="dk1"/>
                </a:solidFill>
              </a:rPr>
              <a:t> Encoder–Decoder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Key Concepts: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Combines BERT (bidirectional encoder) and GPT (autoregressive decoder)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Pretraining using a </a:t>
            </a:r>
            <a:r>
              <a:rPr i="1" lang="en" sz="1700">
                <a:solidFill>
                  <a:schemeClr val="dk1"/>
                </a:solidFill>
              </a:rPr>
              <a:t>denoising autoencoder objective</a:t>
            </a:r>
            <a:br>
              <a:rPr i="1" lang="en" sz="1700">
                <a:solidFill>
                  <a:schemeClr val="dk1"/>
                </a:solidFill>
              </a:rPr>
            </a:br>
            <a:endParaRPr i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Input is corrupted (e.g., masking, shuffling)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Model learns to reconstruct original tex</a:t>
            </a:r>
            <a:r>
              <a:rPr lang="en" sz="1700">
                <a:solidFill>
                  <a:schemeClr val="dk1"/>
                </a:solidFill>
              </a:rPr>
              <a:t>t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 BART – Foundation of mBART (Cont.)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Architecture: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1"/>
                </a:solidFill>
              </a:rPr>
              <a:t>Similar to sequence-to-sequence Transformer (Attention is All You Need) except:</a:t>
            </a:r>
            <a:endParaRPr sz="1700" u="sng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Encoder: 12 Transformer layers (bidirectional)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Decoder: 12 Transformer layers (left-to-right)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712" y="2753275"/>
            <a:ext cx="5040575" cy="21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BART Architecture (Cont.)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Replace </a:t>
            </a:r>
            <a:r>
              <a:rPr b="1" lang="en" sz="1700">
                <a:solidFill>
                  <a:srgbClr val="000000"/>
                </a:solidFill>
              </a:rPr>
              <a:t>ReLU </a:t>
            </a:r>
            <a:r>
              <a:rPr lang="en" sz="1700">
                <a:solidFill>
                  <a:srgbClr val="000000"/>
                </a:solidFill>
              </a:rPr>
              <a:t>activation functions with </a:t>
            </a:r>
            <a:r>
              <a:rPr b="1" lang="en" sz="1700">
                <a:solidFill>
                  <a:srgbClr val="000000"/>
                </a:solidFill>
              </a:rPr>
              <a:t>GeLUs </a:t>
            </a:r>
            <a:r>
              <a:rPr lang="en" sz="1700">
                <a:solidFill>
                  <a:srgbClr val="000000"/>
                </a:solidFill>
              </a:rPr>
              <a:t>(Gaussian Error Linear Unit)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has a </a:t>
            </a:r>
            <a:r>
              <a:rPr b="1" lang="en" sz="1700">
                <a:solidFill>
                  <a:srgbClr val="000000"/>
                </a:solidFill>
              </a:rPr>
              <a:t>smooth</a:t>
            </a:r>
            <a:r>
              <a:rPr lang="en" sz="1700">
                <a:solidFill>
                  <a:srgbClr val="000000"/>
                </a:solidFill>
              </a:rPr>
              <a:t>, </a:t>
            </a:r>
            <a:r>
              <a:rPr b="1" lang="en" sz="1700">
                <a:solidFill>
                  <a:srgbClr val="000000"/>
                </a:solidFill>
              </a:rPr>
              <a:t>bell-shaped curve</a:t>
            </a:r>
            <a:r>
              <a:rPr lang="en" sz="1700">
                <a:solidFill>
                  <a:srgbClr val="000000"/>
                </a:solidFill>
              </a:rPr>
              <a:t> and provides non-zero gradients even for negative inputs</a:t>
            </a:r>
            <a:endParaRPr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25" y="2233951"/>
            <a:ext cx="7893827" cy="263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BART Architecture (Cont.)</a:t>
            </a:r>
            <a:endParaRPr b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Technical Details:</a:t>
            </a:r>
            <a:endParaRPr b="1"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BART </a:t>
            </a:r>
            <a:r>
              <a:rPr lang="en" sz="1700">
                <a:solidFill>
                  <a:srgbClr val="000000"/>
                </a:solidFill>
              </a:rPr>
              <a:t>does </a:t>
            </a:r>
            <a:r>
              <a:rPr b="1" lang="en" sz="1700">
                <a:solidFill>
                  <a:srgbClr val="000000"/>
                </a:solidFill>
              </a:rPr>
              <a:t>not </a:t>
            </a:r>
            <a:r>
              <a:rPr lang="en" sz="1700">
                <a:solidFill>
                  <a:srgbClr val="000000"/>
                </a:solidFill>
              </a:rPr>
              <a:t>uses an additional </a:t>
            </a:r>
            <a:r>
              <a:rPr b="1" lang="en" sz="1700">
                <a:solidFill>
                  <a:srgbClr val="000000"/>
                </a:solidFill>
              </a:rPr>
              <a:t>feed-forward network</a:t>
            </a:r>
            <a:r>
              <a:rPr lang="en" sz="1700">
                <a:solidFill>
                  <a:srgbClr val="000000"/>
                </a:solidFill>
              </a:rPr>
              <a:t> before word prediction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BART contains roughly </a:t>
            </a:r>
            <a:r>
              <a:rPr b="1" lang="en" sz="1700">
                <a:solidFill>
                  <a:srgbClr val="000000"/>
                </a:solidFill>
              </a:rPr>
              <a:t>10</a:t>
            </a:r>
            <a:r>
              <a:rPr lang="en" sz="1700">
                <a:solidFill>
                  <a:srgbClr val="000000"/>
                </a:solidFill>
              </a:rPr>
              <a:t>% more parameters than the equivalently sized BERT model.</a:t>
            </a:r>
            <a:endParaRPr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mBART50?</a:t>
            </a:r>
            <a:endParaRPr b="1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mBART = Multilingual BART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mBART50 expands BART to 50 languages (both low- and high-resource)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Multilingual pretraining</a:t>
            </a:r>
            <a:r>
              <a:rPr lang="en" sz="1700">
                <a:solidFill>
                  <a:schemeClr val="dk1"/>
                </a:solidFill>
              </a:rPr>
              <a:t> with </a:t>
            </a:r>
            <a:r>
              <a:rPr i="1" lang="en" sz="1700">
                <a:solidFill>
                  <a:schemeClr val="dk1"/>
                </a:solidFill>
              </a:rPr>
              <a:t>language tokens</a:t>
            </a:r>
            <a:r>
              <a:rPr lang="en" sz="1700">
                <a:solidFill>
                  <a:schemeClr val="dk1"/>
                </a:solidFill>
              </a:rPr>
              <a:t> for cross-lingual translation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e.g.,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&lt;en_XX&gt;</a:t>
            </a:r>
            <a:r>
              <a:rPr lang="en" sz="1700">
                <a:solidFill>
                  <a:schemeClr val="dk1"/>
                </a:solidFill>
              </a:rPr>
              <a:t>,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&lt;ur_PK&gt;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MBART50 (Cont.)</a:t>
            </a:r>
            <a:endParaRPr b="1"/>
          </a:p>
        </p:txBody>
      </p:sp>
      <p:graphicFrame>
        <p:nvGraphicFramePr>
          <p:cNvPr id="99" name="Google Shape;99;p20"/>
          <p:cNvGraphicFramePr/>
          <p:nvPr/>
        </p:nvGraphicFramePr>
        <p:xfrm>
          <a:off x="9525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{5BC47DB1-F735-4F00-88AD-CD8447986686}</a:tableStyleId>
              </a:tblPr>
              <a:tblGrid>
                <a:gridCol w="3619500"/>
                <a:gridCol w="3619500"/>
              </a:tblGrid>
              <a:tr h="15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Component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Detail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Encoder Layers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 Transformer layers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Decoder Layers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 Transformer layers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Hidden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1024 (internal vector size)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FFN Inner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4096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Attention Heads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 per layer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Embedding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Positions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Vocabulary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~250,000 (shared)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~610 million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 Preparation and Tokenization</a:t>
            </a:r>
            <a:endParaRPr b="1"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1. Input Format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&lt;en_XX&gt; The cat sat on the mat.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Language token tells the model input language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Output expected in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&lt;ur_PK&gt;</a:t>
            </a:r>
            <a:r>
              <a:rPr lang="en" sz="1700">
                <a:solidFill>
                  <a:schemeClr val="dk1"/>
                </a:solidFill>
              </a:rPr>
              <a:t> Urdu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 Preparation and Tokenization (Cont.)</a:t>
            </a:r>
            <a:endParaRPr b="1"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2</a:t>
            </a:r>
            <a:r>
              <a:rPr b="1" lang="en" sz="1700">
                <a:solidFill>
                  <a:schemeClr val="dk1"/>
                </a:solidFill>
              </a:rPr>
              <a:t>. Tokenization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Uses </a:t>
            </a:r>
            <a:r>
              <a:rPr b="1" lang="en" sz="1700">
                <a:solidFill>
                  <a:schemeClr val="dk1"/>
                </a:solidFill>
              </a:rPr>
              <a:t>SentencePiece tokenizer</a:t>
            </a:r>
            <a:r>
              <a:rPr lang="en" sz="1700">
                <a:solidFill>
                  <a:schemeClr val="dk1"/>
                </a:solidFill>
              </a:rPr>
              <a:t> (subword-based)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Ensures even rare words or morphologically rich languages like Urdu can be handled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Example: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‘Internationalization is important’</a:t>
            </a:r>
            <a:endParaRPr b="1"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"internationalization" → "inter", "national", "ization"</a:t>
            </a:r>
            <a:endParaRPr b="1"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 Preparation and Tokenization (Cont.)</a:t>
            </a:r>
            <a:endParaRPr b="1"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3.</a:t>
            </a:r>
            <a:r>
              <a:rPr b="1" lang="en" sz="1700">
                <a:solidFill>
                  <a:schemeClr val="dk1"/>
                </a:solidFill>
              </a:rPr>
              <a:t> Max Length Used</a:t>
            </a:r>
            <a:endParaRPr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Fine-tuned with </a:t>
            </a:r>
            <a:r>
              <a:rPr b="1" lang="en" sz="1700">
                <a:solidFill>
                  <a:schemeClr val="dk1"/>
                </a:solidFill>
              </a:rPr>
              <a:t>max sequence length = 128 tokens</a:t>
            </a:r>
            <a:endParaRPr b="1" sz="17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4. Embedding and positional Encoding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988" y="2720475"/>
            <a:ext cx="58959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1766550" y="3448575"/>
            <a:ext cx="812700" cy="4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3E0004"/>
                </a:solidFill>
              </a:rPr>
              <a:t>Language Embedding</a:t>
            </a:r>
            <a:endParaRPr b="1" sz="800">
              <a:solidFill>
                <a:srgbClr val="3E0004"/>
              </a:solidFill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1392275" y="4431325"/>
            <a:ext cx="5988600" cy="36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/>
          <p:nvPr/>
        </p:nvSpPr>
        <p:spPr>
          <a:xfrm>
            <a:off x="4471975" y="2720475"/>
            <a:ext cx="2962200" cy="160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/>
          <p:nvPr/>
        </p:nvSpPr>
        <p:spPr>
          <a:xfrm>
            <a:off x="2579250" y="2720475"/>
            <a:ext cx="438300" cy="160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Pretraining Objective (Denoising Autoencoding)</a:t>
            </a:r>
            <a:endParaRPr b="1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Pretraining Task: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Corrupt the input (mask spans, permute tokens)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Train the model to reconstruct the original sentence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1. Text Infilling (MASKING spans)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Random </a:t>
            </a:r>
            <a:r>
              <a:rPr b="1" lang="en" sz="1700">
                <a:solidFill>
                  <a:schemeClr val="dk1"/>
                </a:solidFill>
              </a:rPr>
              <a:t>spans of text are removed</a:t>
            </a:r>
            <a:r>
              <a:rPr lang="en" sz="1700">
                <a:solidFill>
                  <a:schemeClr val="dk1"/>
                </a:solidFill>
              </a:rPr>
              <a:t> (not just individual tokens).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These are replaced with a single </a:t>
            </a:r>
            <a:r>
              <a:rPr b="1" lang="en" sz="1700">
                <a:solidFill>
                  <a:schemeClr val="dk1"/>
                </a:solidFill>
              </a:rPr>
              <a:t>&lt;mask&gt;</a:t>
            </a:r>
            <a:r>
              <a:rPr lang="en" sz="1700">
                <a:solidFill>
                  <a:schemeClr val="dk1"/>
                </a:solidFill>
              </a:rPr>
              <a:t> token.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"The quick brown fox jumps over the lazy dog"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→ "The &lt;mask&gt; jumps &lt;mask&gt; the dog"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Pretraining Objective (Cont.)</a:t>
            </a:r>
            <a:endParaRPr b="1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2. Sentence Permutation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For multi-sentence inputs, </a:t>
            </a:r>
            <a:r>
              <a:rPr b="1" lang="en" sz="1700">
                <a:solidFill>
                  <a:schemeClr val="dk1"/>
                </a:solidFill>
              </a:rPr>
              <a:t>shuffle the order of entire sentences</a:t>
            </a:r>
            <a:r>
              <a:rPr lang="en" sz="1700">
                <a:solidFill>
                  <a:schemeClr val="dk1"/>
                </a:solidFill>
              </a:rPr>
              <a:t> (helps with long-text understanding).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Example: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Input:  [S1] I went home. [S2] I cooked dinner. [S3] Then I watched TV.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→      [S3] Then I watched TV. [S1] I went home. [S2] I cooked dinner.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241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not BERT + Decoder</a:t>
            </a:r>
            <a:endParaRPr b="1"/>
          </a:p>
        </p:txBody>
      </p:sp>
      <p:graphicFrame>
        <p:nvGraphicFramePr>
          <p:cNvPr id="140" name="Google Shape;140;p26"/>
          <p:cNvGraphicFramePr/>
          <p:nvPr/>
        </p:nvGraphicFramePr>
        <p:xfrm>
          <a:off x="866975" y="8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{5BC47DB1-F735-4F00-88AD-CD8447986686}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Criteria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BERT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mBART50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Architecture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Encoder-only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Encoder-Decoder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Pretraining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MLM + NSP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 sentence reconstruction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Translation-Ready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No decoding mechanism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Native translation model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Multilingual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Limited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50 languages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Output Control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Needs custom decoding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Built-in autoregressive decoder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6"/>
          <p:cNvSpPr txBox="1"/>
          <p:nvPr/>
        </p:nvSpPr>
        <p:spPr>
          <a:xfrm>
            <a:off x="952500" y="3708750"/>
            <a:ext cx="7239000" cy="1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Conclusion: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BERT requires external decoder + embeddings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mBART50 is end-to-end and more efficient for translation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54475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Results</a:t>
            </a:r>
            <a:endParaRPr b="1"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925" y="1063200"/>
            <a:ext cx="620443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Examples</a:t>
            </a:r>
            <a:endParaRPr b="1"/>
          </a:p>
        </p:txBody>
      </p:sp>
      <p:graphicFrame>
        <p:nvGraphicFramePr>
          <p:cNvPr id="153" name="Google Shape;153;p28"/>
          <p:cNvGraphicFramePr/>
          <p:nvPr/>
        </p:nvGraphicFramePr>
        <p:xfrm>
          <a:off x="2322288" y="137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{8E717F3F-F03E-4F91-AC81-98A406671D79}</a:tableStyleId>
              </a:tblPr>
              <a:tblGrid>
                <a:gridCol w="2196325"/>
                <a:gridCol w="2303100"/>
              </a:tblGrid>
              <a:tr h="63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English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Urdu (mBART50)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10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I love programming.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مجھے پروگرامنگ پسند ہے۔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10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Where are you going?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تم کہاں جا رہے ہو؟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mBART50 is a robust multilingual model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Supports English ↔ Urdu translation natively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Uses strong transformer architecture + denoising pretraining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Outperformed other tested models in both quality and BLEU score</a:t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References</a:t>
            </a:r>
            <a:endParaRPr b="1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mBART50 Research Paper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Tang, Y., et al. (2020). </a:t>
            </a:r>
            <a:r>
              <a:rPr i="1" lang="en" sz="1200">
                <a:solidFill>
                  <a:schemeClr val="dk1"/>
                </a:solidFill>
              </a:rPr>
              <a:t>Multilingual Translation with Extensible Multilingual Pretraining and Finetuning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https://arxiv.org/abs/2008.00401</a:t>
            </a:r>
            <a:endParaRPr sz="12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BART: Denoising Sequence-to-Sequence Pre-training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Lewis, M., et al. (2019).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hlinkClick r:id="rId6"/>
              </a:rPr>
              <a:t>https://arxiv.org/abs/1910.13461</a:t>
            </a:r>
            <a:br>
              <a:rPr lang="en" sz="1200" u="sng">
                <a:solidFill>
                  <a:schemeClr val="hlink"/>
                </a:solidFill>
                <a:hlinkClick r:id="rId7"/>
              </a:rPr>
            </a:br>
            <a:r>
              <a:rPr b="1" lang="en" sz="1200">
                <a:solidFill>
                  <a:schemeClr val="dk1"/>
                </a:solidFill>
              </a:rPr>
              <a:t>Hugging Face – mBART50 Model Card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https://huggingface.co/facebook/mbart-large-50-many-to-many-mmt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SentencePiece Tokenizer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Kudo, T. and Richardson, J. (2018).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hlinkClick r:id="rId9"/>
              </a:rPr>
              <a:t>https://github.com/google/sentencepiece</a:t>
            </a:r>
            <a:endParaRPr sz="12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BLEU Score Metric</a:t>
            </a:r>
            <a:br>
              <a:rPr b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Papineni, K., et al. (2002). </a:t>
            </a:r>
            <a:r>
              <a:rPr i="1" lang="en" sz="1200">
                <a:solidFill>
                  <a:schemeClr val="dk1"/>
                </a:solidFill>
              </a:rPr>
              <a:t>BLEU: a Method for Automatic Evaluation of Machine Translation.</a:t>
            </a:r>
            <a:br>
              <a:rPr i="1"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https://aclanthology.org/P02-1040.pdf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